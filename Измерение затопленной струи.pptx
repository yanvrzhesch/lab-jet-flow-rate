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gif" ContentType="image/gif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9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2" r:id="rId15"/>
    <p:sldId id="271" r:id="rId16"/>
    <p:sldId id="273" r:id="rId17"/>
    <p:sldId id="274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6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Измерение затопленной струи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93100" y="3690620"/>
            <a:ext cx="3036570" cy="2193925"/>
          </a:xfrm>
        </p:spPr>
        <p:txBody>
          <a:bodyPr>
            <a:normAutofit fontScale="90000"/>
          </a:bodyPr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Выполнили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Инютин Ярослав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Вржещ Ян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Сахно Виктория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Подкорытов Владимир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данной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работе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ru-RU" sz="2400">
                <a:latin typeface="Times New Roman" panose="02020603050405020304" charset="0"/>
                <a:cs typeface="Times New Roman" panose="02020603050405020304" charset="0"/>
              </a:rPr>
              <a:t>исследуется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свободная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затопленная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струя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 (рис. 1)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Рисунок 27" descr="C:\Users\BEREZN~1.MV\AppData\Local\Temp\lu1374442si96.tmp\lu1374442sipu_tmp_e5553632222176d8.gif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45690" y="1186815"/>
            <a:ext cx="7698105" cy="44342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3596640" y="5685155"/>
            <a:ext cx="519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Рисунок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1: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Структура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струи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ctr"/>
            <a:r>
              <a:rPr lang="ru-RU" altLang="en-US" sz="3600">
                <a:latin typeface="Times New Roman" panose="02020603050405020304" charset="0"/>
                <a:cs typeface="Times New Roman" panose="02020603050405020304" charset="0"/>
              </a:rPr>
              <a:t>Поток вектора</a:t>
            </a:r>
            <a:endParaRPr lang="ru-RU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Изображение -2147482624" descr="Pic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77035"/>
            <a:ext cx="10494010" cy="2553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2461260" y="4516755"/>
            <a:ext cx="724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Рисунок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Изображения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пояснения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понятия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потока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вектора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ctr"/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Поток вектора через площадку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Объем рассматриваемой фигуры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Полный поток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Объект -2147482613"/>
          <p:cNvGraphicFramePr>
            <a:graphicFrameLocks noChangeAspect="1"/>
          </p:cNvGraphicFramePr>
          <p:nvPr/>
        </p:nvGraphicFramePr>
        <p:xfrm>
          <a:off x="3902075" y="1755140"/>
          <a:ext cx="4387850" cy="76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32000" imgH="342900" progId="Equation.DSMT4">
                  <p:embed/>
                </p:oleObj>
              </mc:Choice>
              <mc:Fallback>
                <p:oleObj name="" r:id="rId1" imgW="2032000" imgH="342900" progId="Equation.DSMT4">
                  <p:embed/>
                  <p:pic>
                    <p:nvPicPr>
                      <p:cNvPr id="0" name="Изображение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2075" y="1755140"/>
                        <a:ext cx="4387850" cy="760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" y="3136900"/>
            <a:ext cx="11273790" cy="624205"/>
          </a:xfrm>
          <a:prstGeom prst="rect">
            <a:avLst/>
          </a:prstGeom>
        </p:spPr>
      </p:pic>
      <p:graphicFrame>
        <p:nvGraphicFramePr>
          <p:cNvPr id="3" name="Объект -2147482621"/>
          <p:cNvGraphicFramePr>
            <a:graphicFrameLocks noChangeAspect="1"/>
          </p:cNvGraphicFramePr>
          <p:nvPr/>
        </p:nvGraphicFramePr>
        <p:xfrm>
          <a:off x="6547485" y="4285615"/>
          <a:ext cx="3210560" cy="80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4" imgW="1409065" imgH="355600" progId="Equation.DSMT4">
                  <p:embed/>
                </p:oleObj>
              </mc:Choice>
              <mc:Fallback>
                <p:oleObj name="" r:id="rId4" imgW="1409065" imgH="355600" progId="Equation.DSMT4">
                  <p:embed/>
                  <p:pic>
                    <p:nvPicPr>
                      <p:cNvPr id="0" name="Изображение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47485" y="4285615"/>
                        <a:ext cx="3210560" cy="802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-2147482622"/>
          <p:cNvGraphicFramePr>
            <a:graphicFrameLocks noChangeAspect="1"/>
          </p:cNvGraphicFramePr>
          <p:nvPr/>
        </p:nvGraphicFramePr>
        <p:xfrm>
          <a:off x="1718945" y="4285615"/>
          <a:ext cx="3312160" cy="80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6" imgW="1612900" imgH="393700" progId="Equation.DSMT4">
                  <p:embed/>
                </p:oleObj>
              </mc:Choice>
              <mc:Fallback>
                <p:oleObj name="" r:id="rId6" imgW="1612900" imgH="393700" progId="Equation.DSMT4">
                  <p:embed/>
                  <p:pic>
                    <p:nvPicPr>
                      <p:cNvPr id="0" name="Изображение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18945" y="4285615"/>
                        <a:ext cx="3312160" cy="802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овое поле 8"/>
          <p:cNvSpPr txBox="1"/>
          <p:nvPr/>
        </p:nvSpPr>
        <p:spPr>
          <a:xfrm>
            <a:off x="8606790" y="1905000"/>
            <a:ext cx="619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(1)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606790" y="3218815"/>
            <a:ext cx="539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(2)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5161915" y="4427220"/>
            <a:ext cx="579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(3)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9954260" y="4382135"/>
            <a:ext cx="549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(4)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Замещающее содержимое -2147482620" descr="Pic4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3717925" y="312420"/>
            <a:ext cx="4756150" cy="54432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2745740" y="5785485"/>
            <a:ext cx="6699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Рисунок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Схематическое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изображение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профиля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скорости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струе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ru-RU" altLang="ru-RU">
                <a:latin typeface="Times New Roman" panose="02020603050405020304" charset="0"/>
                <a:cs typeface="Times New Roman" panose="02020603050405020304" charset="0"/>
              </a:rPr>
              <a:t>Таким образом, общий объемный поток равен </a:t>
            </a:r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ru-RU">
                <a:latin typeface="Times New Roman" panose="02020603050405020304" charset="0"/>
                <a:cs typeface="Times New Roman" panose="02020603050405020304" charset="0"/>
              </a:rPr>
              <a:t>Следовательно, массовый расход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Объект -2147482612"/>
          <p:cNvGraphicFramePr>
            <a:graphicFrameLocks noChangeAspect="1"/>
          </p:cNvGraphicFramePr>
          <p:nvPr/>
        </p:nvGraphicFramePr>
        <p:xfrm>
          <a:off x="4632325" y="1349375"/>
          <a:ext cx="2926715" cy="1251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002665" imgH="431800" progId="Equation.DSMT4">
                  <p:embed/>
                </p:oleObj>
              </mc:Choice>
              <mc:Fallback>
                <p:oleObj name="" r:id="rId1" imgW="1002665" imgH="431800" progId="Equation.DSMT4">
                  <p:embed/>
                  <p:pic>
                    <p:nvPicPr>
                      <p:cNvPr id="0" name="Изображение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32325" y="1349375"/>
                        <a:ext cx="2926715" cy="12515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Текстовое поле 5"/>
          <p:cNvSpPr txBox="1"/>
          <p:nvPr/>
        </p:nvSpPr>
        <p:spPr>
          <a:xfrm>
            <a:off x="7766685" y="17449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(5)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" name="Объект -2147482618"/>
          <p:cNvGraphicFramePr>
            <a:graphicFrameLocks noChangeAspect="1"/>
          </p:cNvGraphicFramePr>
          <p:nvPr/>
        </p:nvGraphicFramePr>
        <p:xfrm>
          <a:off x="4306570" y="4062095"/>
          <a:ext cx="3578225" cy="1327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1155700" imgH="431800" progId="Equation.DSMT4">
                  <p:embed/>
                </p:oleObj>
              </mc:Choice>
              <mc:Fallback>
                <p:oleObj name="" r:id="rId3" imgW="1155700" imgH="431800" progId="Equation.DSMT4">
                  <p:embed/>
                  <p:pic>
                    <p:nvPicPr>
                      <p:cNvPr id="0" name="Изображение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6570" y="4062095"/>
                        <a:ext cx="3578225" cy="1327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Текстовое поле 7"/>
          <p:cNvSpPr txBox="1"/>
          <p:nvPr/>
        </p:nvSpPr>
        <p:spPr>
          <a:xfrm>
            <a:off x="8090535" y="4495800"/>
            <a:ext cx="666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(6)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ru-RU">
                <a:latin typeface="Times New Roman" panose="02020603050405020304" charset="0"/>
                <a:cs typeface="Times New Roman" panose="02020603050405020304" charset="0"/>
              </a:rPr>
              <a:t>В работе зависимость </a:t>
            </a:r>
            <a:r>
              <a:rPr lang="en-US" altLang="ru-RU" i="1">
                <a:latin typeface="Times New Roman" panose="02020603050405020304" charset="0"/>
                <a:cs typeface="Times New Roman" panose="02020603050405020304" charset="0"/>
              </a:rPr>
              <a:t>V(r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вычислялась с помощью формулы Бернулли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Второе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слагаемое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левой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части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называетс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я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динамическим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напором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давление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P –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это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давление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воздуха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текущей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точке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давление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P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называется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давлением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торможения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Объект -2147482616"/>
          <p:cNvGraphicFramePr>
            <a:graphicFrameLocks noChangeAspect="1"/>
          </p:cNvGraphicFramePr>
          <p:nvPr/>
        </p:nvGraphicFramePr>
        <p:xfrm>
          <a:off x="4920615" y="2552700"/>
          <a:ext cx="235077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87400" imgH="381000" progId="Equation.DSMT4">
                  <p:embed/>
                </p:oleObj>
              </mc:Choice>
              <mc:Fallback>
                <p:oleObj name="" r:id="rId1" imgW="787400" imgH="381000" progId="Equation.DSMT4">
                  <p:embed/>
                  <p:pic>
                    <p:nvPicPr>
                      <p:cNvPr id="0" name="Изображение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20615" y="2552700"/>
                        <a:ext cx="2350770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Текстовое поле 5"/>
          <p:cNvSpPr txBox="1"/>
          <p:nvPr/>
        </p:nvSpPr>
        <p:spPr>
          <a:xfrm>
            <a:off x="7747000" y="2903220"/>
            <a:ext cx="858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(7)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ctr"/>
            <a:r>
              <a:rPr lang="ru-RU" altLang="en-US" sz="3600">
                <a:latin typeface="Times New Roman" panose="02020603050405020304" charset="0"/>
                <a:cs typeface="Times New Roman" panose="02020603050405020304" charset="0"/>
              </a:rPr>
              <a:t>Экспериментальная установка</a:t>
            </a:r>
            <a:endParaRPr lang="ru-RU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Изображение -2147482615" descr="Pi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800" y="1243330"/>
            <a:ext cx="4014470" cy="471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3096260" y="6110605"/>
            <a:ext cx="5797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Рисунок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Общая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схема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экспериментальной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установки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Замещающее содержимое 7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513080" y="390525"/>
            <a:ext cx="11165205" cy="59620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ctr"/>
            <a:endParaRPr lang="ru-RU" altLang="en-US" sz="5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altLang="en-US" sz="5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altLang="en-US" sz="4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2550795" y="3013710"/>
            <a:ext cx="70910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latin typeface="Times New Roman" panose="02020603050405020304" charset="0"/>
                <a:cs typeface="Times New Roman" panose="02020603050405020304" charset="0"/>
              </a:rPr>
              <a:t>Обработка данных</a:t>
            </a:r>
            <a:endParaRPr lang="ru-RU" altLang="en-US" sz="4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ctr"/>
            <a:r>
              <a:rPr lang="ru-RU" altLang="en-US" sz="3600">
                <a:latin typeface="Times New Roman" panose="02020603050405020304" charset="0"/>
                <a:cs typeface="Times New Roman" panose="02020603050405020304" charset="0"/>
              </a:rPr>
              <a:t>Калибровка</a:t>
            </a:r>
            <a:endParaRPr lang="ru-RU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082040"/>
            <a:ext cx="10180320" cy="5415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Замещающее содержимое 2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366395" y="741045"/>
            <a:ext cx="10907395" cy="53727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Замещающее содержимое 2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974725" y="361950"/>
            <a:ext cx="10242550" cy="61334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Замещающее содержимое 4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2323465" y="608330"/>
            <a:ext cx="7545070" cy="5640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Замещающее содержимое 2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1014730" y="447675"/>
            <a:ext cx="10162540" cy="60236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sz="quarter" idx="13"/>
          </p:nvPr>
        </p:nvSpPr>
        <p:spPr/>
        <p:txBody>
          <a:bodyPr/>
          <a:p>
            <a:pPr algn="just"/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altLang="ru-RU">
                <a:latin typeface="Times New Roman" panose="02020603050405020304" charset="0"/>
                <a:cs typeface="Times New Roman" panose="02020603050405020304" charset="0"/>
              </a:rPr>
              <a:t>Вывод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в работе были получены графики скорости струи на разных расстояниях от раструба, по которым была найдена зависимость массового расхода от расстояния до сопла.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WPS Presentation</Application>
  <PresentationFormat>宽屏</PresentationFormat>
  <Paragraphs>87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Calibri Light</vt:lpstr>
      <vt:lpstr>Times New Roman</vt:lpstr>
      <vt:lpstr>Microsoft YaHei</vt:lpstr>
      <vt:lpstr>Arial Unicode MS</vt:lpstr>
      <vt:lpstr>Calibri</vt:lpstr>
      <vt:lpstr>Office Theme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Измерение затопленной струи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</dc:creator>
  <cp:lastModifiedBy>1</cp:lastModifiedBy>
  <cp:revision>18</cp:revision>
  <dcterms:created xsi:type="dcterms:W3CDTF">2025-07-23T00:59:00Z</dcterms:created>
  <dcterms:modified xsi:type="dcterms:W3CDTF">2025-12-09T13:24:12Z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1049-12.2.0.23149</vt:lpwstr>
  </property>
  <property fmtid="{D5CDD505-2E9C-101B-9397-08002B2CF9AE}" pid="3" name="ICV">
    <vt:lpwstr>8A47363F86F54F189E21BC093BE0840A_11</vt:lpwstr>
  </property>
</Properties>
</file>